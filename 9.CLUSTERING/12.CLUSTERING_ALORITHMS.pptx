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53ED-2477-F60F-0D84-92D9B5944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FE6B3-E6A6-27C4-3F95-5EE876F7A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76206-4125-46AF-7695-06B77B682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0790-2A5E-4564-ABE8-1336A1E43C4D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81BDB-88B5-E274-6325-C68F9021E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4B040-5BA3-4424-CA1E-71354C1B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8A7E-2B3A-450D-BB69-83DDA44AAF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721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78326-B1A3-421B-6EC6-D8244548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E3554-05FA-B971-A654-DA09B8FFC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6DE8-00B2-7D12-7678-56364CF4E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0790-2A5E-4564-ABE8-1336A1E43C4D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3343D-6374-FFBD-BBB1-DA5770F9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CA1ED-A82C-56B1-9F06-3F6A7360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8A7E-2B3A-450D-BB69-83DDA44AAF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549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294D-4B60-9EE0-C485-DE3C39BD0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5D61A-5468-6416-E256-62FD662B9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B1461-312D-E2BD-1E62-BBB6BC7D5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0790-2A5E-4564-ABE8-1336A1E43C4D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3A565-89AB-E85D-54ED-AF37E97FE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49DC0-308D-05A6-B050-3C4B5E12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8A7E-2B3A-450D-BB69-83DDA44AAF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327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81125-3F09-A826-0165-EB7AAF3FA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DC239-1A22-B7EC-4DC7-77E34FCE6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D53CF-C98A-608D-041F-BC38625C3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07F6B8-1F81-6314-3D06-9F092EAB9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0790-2A5E-4564-ABE8-1336A1E43C4D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1FED8-E226-385D-38EC-830BD65D3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ACE9F-48E4-BC98-12DC-E36E40BE5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8A7E-2B3A-450D-BB69-83DDA44AAF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3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0205-FA28-04DB-B280-2CC36177A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9009A-E040-3471-07DE-F70658499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A9DF7-A496-7BA9-8E09-57A0BFF12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EA38C-7E37-D7AE-42F5-E5694A6CC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2425BA-3D8C-7807-C853-8837279C5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62366D-A384-2843-9C1E-3939EB98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0790-2A5E-4564-ABE8-1336A1E43C4D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4CD50C-45E7-D3E8-15E4-C50B7D99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FC9334-41F5-2C78-A573-64C9F5BA9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8A7E-2B3A-450D-BB69-83DDA44AAF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40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4C781-6234-6AFB-7272-EA878EC7D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B7F01-A4C1-B17C-B072-4BFCC0FF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0790-2A5E-4564-ABE8-1336A1E43C4D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D54722-1545-3636-F894-822C840B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24E1B-893A-B03E-06FC-DA6ED05B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8A7E-2B3A-450D-BB69-83DDA44AAF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31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EC275-2B1D-B57D-4CB6-FE9222601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0790-2A5E-4564-ABE8-1336A1E43C4D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F71BC-3274-AA54-53C3-A08F828C8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B8049-1865-214D-BFA7-9ED30569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8A7E-2B3A-450D-BB69-83DDA44AAF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414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FCC98-D00B-E5A1-D51A-9568C3E92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EAFA0-43EA-642A-27BC-C018B7823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AB484-B06B-01EA-173E-1DE05DF31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B20F2-7BAF-8C3E-0BB6-80B16CA83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0790-2A5E-4564-ABE8-1336A1E43C4D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F4EDC-5252-B8AE-5EA8-9C522950D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D7B1F-F819-1CE8-2652-E190CF5F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8A7E-2B3A-450D-BB69-83DDA44AAF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10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4B4DA-85F9-26C8-FC46-902A80E3F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D80B42-D3DB-577C-6017-A870CACFE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53CE2-C8F3-E130-B3CB-014C50228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910F4-0EAD-6A18-145E-D442811BF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0790-2A5E-4564-ABE8-1336A1E43C4D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C0F4B-4A28-A52C-B9A6-BAFFD34C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67BAA-B778-AAF5-E830-1F3D478F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8A7E-2B3A-450D-BB69-83DDA44AAF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351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18DDA-3926-7C7B-3AAC-7A7924B0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4017E-A79A-4FA3-508E-BE5239B87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EB884-C886-640C-3A2E-0FDE180D8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0790-2A5E-4564-ABE8-1336A1E43C4D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845DC-771E-F329-5F94-36E1D6BE4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363F2-9CD6-5B12-5AE9-0EFFD3C75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8A7E-2B3A-450D-BB69-83DDA44AAF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08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34834C-C753-4AF7-E6B7-F18CD30D9F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B4FC2-BB1C-A1A7-18A8-931614192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F010E-BF96-7B5D-8771-02CD5EDF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0790-2A5E-4564-ABE8-1336A1E43C4D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508F7-6A59-094F-D298-738EFFC69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18F8B-EF17-A514-CB76-94BCD1BA3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8A7E-2B3A-450D-BB69-83DDA44AAF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4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BD0AD-4016-59B0-5BC8-92E44799D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51E2C-D618-3CE0-0EAB-C3CB13858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F3ADE-8DB4-CFC9-7E0A-E6F918F27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40790-2A5E-4564-ABE8-1336A1E43C4D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E4483-8A86-E84E-83BB-7F703FCC7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B5E6-7623-EA4D-9C42-8AD9E719F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88A7E-2B3A-450D-BB69-83DDA44AAF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1D089-2DB9-F552-D57A-D1CBF0A7929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338859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FADA-9CE4-982B-2A53-5E0180F871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CLUSTERING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46635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DB05-1A72-4736-0044-E96055FD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Means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EF1B1-03F9-EA9E-EC6B-AD1B09954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Centroids are assigned based on </a:t>
            </a:r>
            <a:r>
              <a:rPr lang="en-US" sz="1800" dirty="0" err="1"/>
              <a:t>n_clusters</a:t>
            </a:r>
            <a:r>
              <a:rPr lang="en-US" sz="1800" dirty="0"/>
              <a:t> defined</a:t>
            </a:r>
          </a:p>
          <a:p>
            <a:r>
              <a:rPr lang="en-US" sz="1800" dirty="0"/>
              <a:t>Elbow method to choose the right number of clusters.</a:t>
            </a:r>
          </a:p>
          <a:p>
            <a:r>
              <a:rPr lang="en-US" sz="1800" dirty="0"/>
              <a:t>The centroids are moved iteratively until the centroid best fits the cluster(closer data points)</a:t>
            </a:r>
          </a:p>
          <a:p>
            <a:r>
              <a:rPr lang="en-US" sz="1800" dirty="0"/>
              <a:t>Choose last point of </a:t>
            </a:r>
            <a:r>
              <a:rPr lang="en-US" sz="1800" dirty="0" err="1"/>
              <a:t>n_cluster</a:t>
            </a:r>
            <a:r>
              <a:rPr lang="en-US" sz="1800" dirty="0"/>
              <a:t> where the inertia dropped, Eg: 5</a:t>
            </a:r>
          </a:p>
          <a:p>
            <a:r>
              <a:rPr lang="en-US" sz="1800" dirty="0"/>
              <a:t>Inertia measures compactness of clusters.</a:t>
            </a:r>
          </a:p>
          <a:p>
            <a:r>
              <a:rPr lang="en-US" sz="1800" dirty="0"/>
              <a:t>Lower inertia → points are closer to their centroids → tighter, better‑defined clusters.</a:t>
            </a:r>
          </a:p>
          <a:p>
            <a:r>
              <a:rPr lang="en-US" sz="1800" dirty="0"/>
              <a:t>Higher inertia → points are spread out → clusters are less cohesive.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80811-EB72-26EC-DC5B-ED11DFC4D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728" y="4591381"/>
            <a:ext cx="3068257" cy="2174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A37EE7-9DAF-7F20-2978-4B833E5A9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28" y="4499241"/>
            <a:ext cx="2927844" cy="235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59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7092-B47D-03E7-EF54-6EC33073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AGGLOMERATIVE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DBC5E-3B64-6353-B76D-630FF9560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b="1" dirty="0"/>
              <a:t>Start with singletons</a:t>
            </a:r>
            <a:r>
              <a:rPr lang="en-IN" sz="1600" dirty="0"/>
              <a:t> → Each data point is its own cluster.</a:t>
            </a:r>
          </a:p>
          <a:p>
            <a:r>
              <a:rPr lang="en-IN" sz="1600" b="1" dirty="0"/>
              <a:t>Compute distances</a:t>
            </a:r>
            <a:r>
              <a:rPr lang="en-IN" sz="1600" dirty="0"/>
              <a:t> → Measure similarity between clusters (often Euclidean distance).</a:t>
            </a:r>
            <a:endParaRPr lang="en-IN" sz="1600" b="1" dirty="0"/>
          </a:p>
          <a:p>
            <a:r>
              <a:rPr lang="en-IN" sz="1600" b="1" dirty="0"/>
              <a:t>hierarchical clustering</a:t>
            </a:r>
            <a:r>
              <a:rPr lang="en-IN" sz="1600" dirty="0"/>
              <a:t> that builds clusters step by step by </a:t>
            </a:r>
            <a:r>
              <a:rPr lang="en-IN" sz="1600" i="1" dirty="0"/>
              <a:t>merging</a:t>
            </a:r>
            <a:r>
              <a:rPr lang="en-IN" sz="1600" dirty="0"/>
              <a:t> smaller groups into larger ones.</a:t>
            </a:r>
          </a:p>
          <a:p>
            <a:r>
              <a:rPr lang="en-IN" sz="1600" dirty="0"/>
              <a:t>The </a:t>
            </a:r>
            <a:r>
              <a:rPr lang="en-IN" sz="1600" b="1" dirty="0"/>
              <a:t>dendrogram</a:t>
            </a:r>
            <a:r>
              <a:rPr lang="en-IN" sz="1600" dirty="0"/>
              <a:t> (tree diagram) shows this hierarchy and lets you “cut” at a chosen level to decide how many clusters you want.</a:t>
            </a:r>
          </a:p>
          <a:p>
            <a:r>
              <a:rPr lang="en-IN" sz="1600" dirty="0"/>
              <a:t>Look for big jump in dendrogram, draw a horizontal cut line</a:t>
            </a:r>
          </a:p>
          <a:p>
            <a:r>
              <a:rPr lang="en-IN" sz="1600" dirty="0"/>
              <a:t>Number of lines cut is </a:t>
            </a:r>
            <a:r>
              <a:rPr lang="en-IN" sz="1600" dirty="0" err="1"/>
              <a:t>n_clusters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CCB89-D596-6D21-D49D-E410E2958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243" y="3471494"/>
            <a:ext cx="3908780" cy="302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9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C390-CC92-0A77-1C6E-A83CFE23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Affinity Propagation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C3D00-D034-D3E3-A3D0-3C755C885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No need to specify </a:t>
            </a:r>
            <a:r>
              <a:rPr lang="en-US" sz="1600" dirty="0" err="1"/>
              <a:t>n_clusters</a:t>
            </a:r>
            <a:r>
              <a:rPr lang="en-US" sz="1600" dirty="0"/>
              <a:t> as like k-means, agglomerative</a:t>
            </a:r>
          </a:p>
          <a:p>
            <a:r>
              <a:rPr lang="en-US" sz="1600" dirty="0"/>
              <a:t>It automatically find the cluster centers (</a:t>
            </a:r>
            <a:r>
              <a:rPr lang="en-IN" sz="1600" b="1" dirty="0"/>
              <a:t>exemplars</a:t>
            </a:r>
            <a:r>
              <a:rPr lang="en-US" sz="1600" dirty="0"/>
              <a:t>)</a:t>
            </a:r>
          </a:p>
          <a:p>
            <a:r>
              <a:rPr lang="en-IN" sz="1600" b="1" dirty="0"/>
              <a:t>Similarity matrix</a:t>
            </a:r>
            <a:r>
              <a:rPr lang="en-IN" sz="1600" dirty="0"/>
              <a:t> → Compute pairwise similarities between all points</a:t>
            </a:r>
          </a:p>
          <a:p>
            <a:r>
              <a:rPr lang="en-IN" sz="1600" b="1" dirty="0">
                <a:effectLst/>
              </a:rPr>
              <a:t>Message passing</a:t>
            </a:r>
            <a:r>
              <a:rPr lang="en-IN" sz="1600" dirty="0">
                <a:effectLst/>
              </a:rPr>
              <a:t> → Points exchange two types of messages:</a:t>
            </a:r>
            <a:endParaRPr lang="en-IN" sz="1600" dirty="0"/>
          </a:p>
          <a:p>
            <a:pPr lvl="1"/>
            <a:r>
              <a:rPr lang="en-IN" sz="1200" b="1" dirty="0">
                <a:effectLst/>
              </a:rPr>
              <a:t>Responsibility</a:t>
            </a:r>
            <a:r>
              <a:rPr lang="en-IN" sz="1200" dirty="0">
                <a:effectLst/>
              </a:rPr>
              <a:t> → How suitable a point is to be an exemplar for another point.</a:t>
            </a:r>
            <a:endParaRPr lang="en-IN" sz="1200" dirty="0"/>
          </a:p>
          <a:p>
            <a:pPr lvl="1"/>
            <a:r>
              <a:rPr lang="en-IN" sz="1200" b="1" dirty="0">
                <a:effectLst/>
              </a:rPr>
              <a:t>Availability</a:t>
            </a:r>
            <a:r>
              <a:rPr lang="en-IN" sz="1200" dirty="0">
                <a:effectLst/>
              </a:rPr>
              <a:t> → How appropriate it would be for a point to choose another as its exemplar.</a:t>
            </a:r>
          </a:p>
          <a:p>
            <a:r>
              <a:rPr lang="en-IN" sz="1600" dirty="0"/>
              <a:t>Use </a:t>
            </a:r>
            <a:r>
              <a:rPr lang="en-IN" sz="1600" b="1" dirty="0"/>
              <a:t>Affinity Propagation</a:t>
            </a:r>
            <a:r>
              <a:rPr lang="en-IN" sz="1600" dirty="0"/>
              <a:t> when clusters are irregular, uneven</a:t>
            </a:r>
          </a:p>
          <a:p>
            <a:r>
              <a:rPr lang="en-IN" sz="1600" dirty="0">
                <a:effectLst/>
              </a:rPr>
              <a:t>Think of irregular shapes like crescents, spirals, or uneven blobs:</a:t>
            </a:r>
            <a:endParaRPr lang="en-IN" sz="1600" dirty="0"/>
          </a:p>
          <a:p>
            <a:r>
              <a:rPr lang="en-IN" sz="1600" dirty="0">
                <a:effectLst/>
              </a:rPr>
              <a:t>K‑Means tends to “cut” them into round pieces.</a:t>
            </a:r>
            <a:endParaRPr lang="en-IN" sz="1600" dirty="0"/>
          </a:p>
          <a:p>
            <a:r>
              <a:rPr lang="en-IN" sz="1600" dirty="0">
                <a:effectLst/>
              </a:rPr>
              <a:t>Affinity Propagation can place exemplars along the curve, forming clusters that follow the irregular shape.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24009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E32A2-642B-0024-7C8B-CAD2FC37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SPECTRAL CLUSTERING 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90960-07B3-C097-C43E-D4F9693FC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451527"/>
            <a:ext cx="7243901" cy="3684588"/>
          </a:xfrm>
        </p:spPr>
        <p:txBody>
          <a:bodyPr>
            <a:normAutofit/>
          </a:bodyPr>
          <a:lstStyle/>
          <a:p>
            <a:r>
              <a:rPr lang="en-US" sz="1800" dirty="0"/>
              <a:t>Graph connectivity based clustering</a:t>
            </a:r>
          </a:p>
          <a:p>
            <a:r>
              <a:rPr lang="en-US" sz="1800" dirty="0"/>
              <a:t>Imagine data shaped like two moons or concentric circles. K‑Means fails because it assumes spherical clusters</a:t>
            </a:r>
          </a:p>
          <a:p>
            <a:r>
              <a:rPr lang="en-US" sz="1800" dirty="0"/>
              <a:t>Specific for irregular clusters</a:t>
            </a:r>
          </a:p>
          <a:p>
            <a:r>
              <a:rPr lang="en-IN" sz="1800" b="1" dirty="0"/>
              <a:t>Strength</a:t>
            </a:r>
            <a:r>
              <a:rPr lang="en-IN" sz="1800" dirty="0"/>
              <a:t> → Excels at separating </a:t>
            </a:r>
            <a:r>
              <a:rPr lang="en-IN" sz="1800" b="1" dirty="0"/>
              <a:t>non-convex, irregular shapes</a:t>
            </a:r>
            <a:r>
              <a:rPr lang="en-IN" sz="1800" dirty="0"/>
              <a:t> (e.g., moons, rings) that K‑Means and Affinity Propagation may misclassify.</a:t>
            </a:r>
          </a:p>
          <a:p>
            <a:r>
              <a:rPr lang="en-IN" sz="1800" b="1" dirty="0"/>
              <a:t>Graph-based</a:t>
            </a:r>
            <a:r>
              <a:rPr lang="en-IN" sz="1800" dirty="0"/>
              <a:t> → Builds a similarity graph and uses eigenvectors of the Laplacian to embed data.</a:t>
            </a:r>
          </a:p>
          <a:p>
            <a:r>
              <a:rPr lang="en-IN" sz="1800" b="1" dirty="0"/>
              <a:t>Number of clusters must be specified (</a:t>
            </a:r>
            <a:r>
              <a:rPr lang="en-IN" dirty="0" err="1"/>
              <a:t>n_clusters</a:t>
            </a:r>
            <a:r>
              <a:rPr lang="en-IN" sz="1800" b="1" dirty="0"/>
              <a:t>)</a:t>
            </a:r>
            <a:r>
              <a:rPr lang="en-IN" sz="1800" dirty="0"/>
              <a:t> → Unlike Affinity Propagation, you decide how many groups.</a:t>
            </a:r>
            <a:endParaRPr lang="en-US" sz="1800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3079" name="Picture 7" descr="Unsupervised Learning (I): Clustering — Practical Machine Learning ...">
            <a:extLst>
              <a:ext uri="{FF2B5EF4-FFF2-40B4-BE49-F238E27FC236}">
                <a16:creationId xmlns:a16="http://schemas.microsoft.com/office/drawing/2014/main" id="{8F74B4FA-8766-E2AE-6559-78F0212E5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770" y="4435337"/>
            <a:ext cx="4845326" cy="242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018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9AAB1-A559-FDB5-2B70-E2E7D1D2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DBSCAN (Density-Based Spatial Clustering of Applications with Noise)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335CF0-B4C4-DF11-076F-D812768D5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A point is a core point if at least </a:t>
            </a:r>
            <a:r>
              <a:rPr lang="en-IN" sz="1800" dirty="0" err="1"/>
              <a:t>min_samples</a:t>
            </a:r>
            <a:r>
              <a:rPr lang="en-IN" sz="1800" dirty="0"/>
              <a:t> </a:t>
            </a:r>
            <a:r>
              <a:rPr lang="en-IN" sz="1800" dirty="0" err="1"/>
              <a:t>neighbors</a:t>
            </a:r>
            <a:r>
              <a:rPr lang="en-IN" sz="1800" dirty="0"/>
              <a:t> lie within a radius eps</a:t>
            </a:r>
          </a:p>
          <a:p>
            <a:r>
              <a:rPr lang="en-IN" sz="1800" b="1" dirty="0"/>
              <a:t>eps</a:t>
            </a:r>
            <a:r>
              <a:rPr lang="en-IN" sz="1800" dirty="0"/>
              <a:t> → Radius of </a:t>
            </a:r>
            <a:r>
              <a:rPr lang="en-IN" sz="1800" dirty="0" err="1"/>
              <a:t>neighborhood</a:t>
            </a:r>
            <a:r>
              <a:rPr lang="en-IN" sz="1800" dirty="0"/>
              <a:t> around a point.</a:t>
            </a:r>
          </a:p>
          <a:p>
            <a:r>
              <a:rPr lang="en-IN" sz="1800" b="1" dirty="0" err="1"/>
              <a:t>min_samples</a:t>
            </a:r>
            <a:r>
              <a:rPr lang="en-IN" sz="1800" dirty="0"/>
              <a:t> → Minimum number of points required to form a dense region.</a:t>
            </a:r>
          </a:p>
          <a:p>
            <a:r>
              <a:rPr lang="en-IN" sz="1800" dirty="0"/>
              <a:t>Finds clusters of </a:t>
            </a:r>
            <a:r>
              <a:rPr lang="en-IN" sz="1800" b="1" dirty="0"/>
              <a:t>arbitrary shape</a:t>
            </a:r>
            <a:r>
              <a:rPr lang="en-IN" sz="1800" dirty="0"/>
              <a:t> (spirals, rings, irregular blobs).</a:t>
            </a:r>
          </a:p>
          <a:p>
            <a:r>
              <a:rPr lang="en-IN" sz="1800" dirty="0"/>
              <a:t>Automatically detects </a:t>
            </a:r>
            <a:r>
              <a:rPr lang="en-IN" sz="1800" b="1" dirty="0"/>
              <a:t>outliers</a:t>
            </a:r>
          </a:p>
          <a:p>
            <a:r>
              <a:rPr lang="en-US" sz="1800" b="1" dirty="0"/>
              <a:t> automatically discovers clusters of arbitrary shape, and identifies noise/outliers — making it ideal for messy, irregular datasets.</a:t>
            </a:r>
            <a:r>
              <a:rPr lang="en-IN" sz="1800" b="1" dirty="0"/>
              <a:t>/noise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7400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493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CLUSTERING</vt:lpstr>
      <vt:lpstr>K Means</vt:lpstr>
      <vt:lpstr>AGGLOMERATIVE</vt:lpstr>
      <vt:lpstr>Affinity Propagation</vt:lpstr>
      <vt:lpstr>SPECTRAL CLUSTERING </vt:lpstr>
      <vt:lpstr>DBSCAN (Density-Based Spatial Clustering of Applications with Noise)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GOPINATH Kamalkannan</dc:creator>
  <cp:lastModifiedBy>GOPINATH Kamalkannan</cp:lastModifiedBy>
  <cp:revision>7</cp:revision>
  <dcterms:created xsi:type="dcterms:W3CDTF">2026-07-19T09:42:00Z</dcterms:created>
  <dcterms:modified xsi:type="dcterms:W3CDTF">2026-07-20T12:33:00Z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 C</vt:lpwstr>
  </property>
</Properties>
</file>